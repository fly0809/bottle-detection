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handoutMasterIdLst>
    <p:handoutMasterId r:id="rId16"/>
  </p:handoutMasterIdLst>
  <p:sldIdLst>
    <p:sldId id="405" r:id="rId3"/>
    <p:sldId id="420" r:id="rId4"/>
    <p:sldId id="422" r:id="rId5"/>
    <p:sldId id="425" r:id="rId6"/>
    <p:sldId id="432" r:id="rId7"/>
    <p:sldId id="428" r:id="rId8"/>
    <p:sldId id="434" r:id="rId9"/>
    <p:sldId id="430" r:id="rId10"/>
    <p:sldId id="426" r:id="rId11"/>
    <p:sldId id="435" r:id="rId12"/>
    <p:sldId id="429" r:id="rId13"/>
    <p:sldId id="431" r:id="rId14"/>
  </p:sldIdLst>
  <p:sldSz cx="12192000" cy="6858000"/>
  <p:notesSz cx="6858000" cy="9773920"/>
  <p:custDataLst>
    <p:tags r:id="rId20"/>
  </p:custDataLst>
  <p:defaultTextStyle>
    <a:defPPr>
      <a:defRPr lang="de-DE"/>
    </a:defPPr>
    <a:lvl1pPr algn="l" rtl="0" fontAlgn="base">
      <a:spcBef>
        <a:spcPct val="0"/>
      </a:spcBef>
      <a:spcAft>
        <a:spcPct val="0"/>
      </a:spcAft>
      <a:defRPr sz="1600" kern="1200">
        <a:solidFill>
          <a:schemeClr val="tx1"/>
        </a:solidFill>
        <a:latin typeface="Frutiger 45 Light" pitchFamily="34" charset="0"/>
        <a:ea typeface="+mn-ea"/>
        <a:cs typeface="+mn-cs"/>
      </a:defRPr>
    </a:lvl1pPr>
    <a:lvl2pPr marL="457200" algn="l" rtl="0" fontAlgn="base">
      <a:spcBef>
        <a:spcPct val="0"/>
      </a:spcBef>
      <a:spcAft>
        <a:spcPct val="0"/>
      </a:spcAft>
      <a:defRPr sz="1600" kern="1200">
        <a:solidFill>
          <a:schemeClr val="tx1"/>
        </a:solidFill>
        <a:latin typeface="Frutiger 45 Light" pitchFamily="34" charset="0"/>
        <a:ea typeface="+mn-ea"/>
        <a:cs typeface="+mn-cs"/>
      </a:defRPr>
    </a:lvl2pPr>
    <a:lvl3pPr marL="914400" algn="l" rtl="0" fontAlgn="base">
      <a:spcBef>
        <a:spcPct val="0"/>
      </a:spcBef>
      <a:spcAft>
        <a:spcPct val="0"/>
      </a:spcAft>
      <a:defRPr sz="1600" kern="1200">
        <a:solidFill>
          <a:schemeClr val="tx1"/>
        </a:solidFill>
        <a:latin typeface="Frutiger 45 Light" pitchFamily="34" charset="0"/>
        <a:ea typeface="+mn-ea"/>
        <a:cs typeface="+mn-cs"/>
      </a:defRPr>
    </a:lvl3pPr>
    <a:lvl4pPr marL="1371600" algn="l" rtl="0" fontAlgn="base">
      <a:spcBef>
        <a:spcPct val="0"/>
      </a:spcBef>
      <a:spcAft>
        <a:spcPct val="0"/>
      </a:spcAft>
      <a:defRPr sz="1600" kern="1200">
        <a:solidFill>
          <a:schemeClr val="tx1"/>
        </a:solidFill>
        <a:latin typeface="Frutiger 45 Light" pitchFamily="34" charset="0"/>
        <a:ea typeface="+mn-ea"/>
        <a:cs typeface="+mn-cs"/>
      </a:defRPr>
    </a:lvl4pPr>
    <a:lvl5pPr marL="1828800" algn="l" rtl="0" fontAlgn="base">
      <a:spcBef>
        <a:spcPct val="0"/>
      </a:spcBef>
      <a:spcAft>
        <a:spcPct val="0"/>
      </a:spcAft>
      <a:defRPr sz="1600" kern="1200">
        <a:solidFill>
          <a:schemeClr val="tx1"/>
        </a:solidFill>
        <a:latin typeface="Frutiger 45 Light" pitchFamily="34" charset="0"/>
        <a:ea typeface="+mn-ea"/>
        <a:cs typeface="+mn-cs"/>
      </a:defRPr>
    </a:lvl5pPr>
    <a:lvl6pPr marL="2286000" algn="l" defTabSz="914400" rtl="0" eaLnBrk="1" latinLnBrk="0" hangingPunct="1">
      <a:defRPr sz="1600" kern="1200">
        <a:solidFill>
          <a:schemeClr val="tx1"/>
        </a:solidFill>
        <a:latin typeface="Frutiger 45 Light" pitchFamily="34" charset="0"/>
        <a:ea typeface="+mn-ea"/>
        <a:cs typeface="+mn-cs"/>
      </a:defRPr>
    </a:lvl6pPr>
    <a:lvl7pPr marL="2743200" algn="l" defTabSz="914400" rtl="0" eaLnBrk="1" latinLnBrk="0" hangingPunct="1">
      <a:defRPr sz="1600" kern="1200">
        <a:solidFill>
          <a:schemeClr val="tx1"/>
        </a:solidFill>
        <a:latin typeface="Frutiger 45 Light" pitchFamily="34" charset="0"/>
        <a:ea typeface="+mn-ea"/>
        <a:cs typeface="+mn-cs"/>
      </a:defRPr>
    </a:lvl7pPr>
    <a:lvl8pPr marL="3200400" algn="l" defTabSz="914400" rtl="0" eaLnBrk="1" latinLnBrk="0" hangingPunct="1">
      <a:defRPr sz="1600" kern="1200">
        <a:solidFill>
          <a:schemeClr val="tx1"/>
        </a:solidFill>
        <a:latin typeface="Frutiger 45 Light" pitchFamily="34" charset="0"/>
        <a:ea typeface="+mn-ea"/>
        <a:cs typeface="+mn-cs"/>
      </a:defRPr>
    </a:lvl8pPr>
    <a:lvl9pPr marL="3657600" algn="l" defTabSz="914400" rtl="0" eaLnBrk="1" latinLnBrk="0" hangingPunct="1">
      <a:defRPr sz="1600" kern="1200">
        <a:solidFill>
          <a:schemeClr val="tx1"/>
        </a:solidFill>
        <a:latin typeface="Frutiger 45 Light" pitchFamily="34" charset="0"/>
        <a:ea typeface="+mn-ea"/>
        <a:cs typeface="+mn-cs"/>
      </a:defRPr>
    </a:lvl9pPr>
  </p:defaultTextStyle>
  <p:extLst>
    <p:ext uri="{EFAFB233-063F-42B5-8137-9DF3F51BA10A}">
      <p15:sldGuideLst xmlns:p15="http://schemas.microsoft.com/office/powerpoint/2012/main">
        <p15:guide id="1" orient="horz" pos="3492" userDrawn="1">
          <p15:clr>
            <a:srgbClr val="A4A3A4"/>
          </p15:clr>
        </p15:guide>
        <p15:guide id="2" orient="horz" pos="2529" userDrawn="1">
          <p15:clr>
            <a:srgbClr val="A4A3A4"/>
          </p15:clr>
        </p15:guide>
        <p15:guide id="3" pos="381" userDrawn="1">
          <p15:clr>
            <a:srgbClr val="A4A3A4"/>
          </p15:clr>
        </p15:guide>
        <p15:guide id="4" pos="17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FFFED"/>
    <a:srgbClr val="FF6600"/>
    <a:srgbClr val="008080"/>
    <a:srgbClr val="339966"/>
    <a:srgbClr val="FF9933"/>
    <a:srgbClr val="CC6600"/>
    <a:srgbClr val="777777"/>
    <a:srgbClr val="FF9900"/>
    <a:srgbClr val="455987"/>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425" autoAdjust="0"/>
    <p:restoredTop sz="96395" autoAdjust="0"/>
  </p:normalViewPr>
  <p:slideViewPr>
    <p:cSldViewPr snapToObjects="1" showGuides="1">
      <p:cViewPr varScale="1">
        <p:scale>
          <a:sx n="59" d="100"/>
          <a:sy n="59" d="100"/>
        </p:scale>
        <p:origin x="34" y="91"/>
      </p:cViewPr>
      <p:guideLst>
        <p:guide orient="horz" pos="3492"/>
        <p:guide orient="horz" pos="2529"/>
        <p:guide pos="381"/>
        <p:guide pos="1728"/>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Objects="1">
      <p:cViewPr varScale="1">
        <p:scale>
          <a:sx n="79" d="100"/>
          <a:sy n="79" d="100"/>
        </p:scale>
        <p:origin x="3942" y="114"/>
      </p:cViewPr>
      <p:guideLst/>
    </p:cSldViewPr>
  </p:notesViewPr>
  <p:gridSpacing cx="45005" cy="45005"/>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gs" Target="tags/tag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notesMaster" Target="notesMasters/notesMaster1.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2"/>
          <p:cNvSpPr>
            <a:spLocks noGrp="1" noChangeArrowheads="1"/>
          </p:cNvSpPr>
          <p:nvPr>
            <p:ph type="hdr" sz="quarter"/>
          </p:nvPr>
        </p:nvSpPr>
        <p:spPr bwMode="auto">
          <a:xfrm>
            <a:off x="0" y="0"/>
            <a:ext cx="2971800" cy="48895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endParaRPr lang="en-US"/>
          </a:p>
        </p:txBody>
      </p:sp>
      <p:sp>
        <p:nvSpPr>
          <p:cNvPr id="92163" name="Rectangle 3"/>
          <p:cNvSpPr>
            <a:spLocks noGrp="1" noChangeArrowheads="1"/>
          </p:cNvSpPr>
          <p:nvPr>
            <p:ph type="dt" sz="quarter" idx="1"/>
          </p:nvPr>
        </p:nvSpPr>
        <p:spPr bwMode="auto">
          <a:xfrm>
            <a:off x="3884613" y="0"/>
            <a:ext cx="2971800" cy="4889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endParaRPr lang="en-US"/>
          </a:p>
        </p:txBody>
      </p:sp>
      <p:sp>
        <p:nvSpPr>
          <p:cNvPr id="92164" name="Rectangle 4"/>
          <p:cNvSpPr>
            <a:spLocks noGrp="1" noChangeArrowheads="1"/>
          </p:cNvSpPr>
          <p:nvPr>
            <p:ph type="ftr" sz="quarter" idx="2"/>
          </p:nvPr>
        </p:nvSpPr>
        <p:spPr bwMode="auto">
          <a:xfrm>
            <a:off x="0" y="9283700"/>
            <a:ext cx="2971800" cy="48895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endParaRPr lang="en-US"/>
          </a:p>
        </p:txBody>
      </p:sp>
      <p:sp>
        <p:nvSpPr>
          <p:cNvPr id="92165" name="Rectangle 5"/>
          <p:cNvSpPr>
            <a:spLocks noGrp="1" noChangeArrowheads="1"/>
          </p:cNvSpPr>
          <p:nvPr>
            <p:ph type="sldNum" sz="quarter" idx="3"/>
          </p:nvPr>
        </p:nvSpPr>
        <p:spPr bwMode="auto">
          <a:xfrm>
            <a:off x="3884613" y="9283700"/>
            <a:ext cx="2971800" cy="48895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fld id="{6F7E290D-D0F5-44F3-9BBF-517C040184AE}"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2971800" cy="488950"/>
          </a:xfrm>
          <a:prstGeom prst="rect">
            <a:avLst/>
          </a:prstGeom>
          <a:noFill/>
          <a:ln w="9525">
            <a:noFill/>
            <a:miter lim="800000"/>
          </a:ln>
          <a:effectLst/>
        </p:spPr>
        <p:txBody>
          <a:bodyPr vert="horz" wrap="square" lIns="91440" tIns="45720" rIns="91440" bIns="45720" numCol="1" anchor="t" anchorCtr="0" compatLnSpc="1"/>
          <a:lstStyle>
            <a:lvl1pPr>
              <a:defRPr sz="1200">
                <a:latin typeface="Arial" panose="020B0604020202020204" pitchFamily="34" charset="0"/>
              </a:defRPr>
            </a:lvl1pPr>
          </a:lstStyle>
          <a:p>
            <a:endParaRPr lang="de-DE"/>
          </a:p>
        </p:txBody>
      </p:sp>
      <p:sp>
        <p:nvSpPr>
          <p:cNvPr id="12291" name="Rectangle 3"/>
          <p:cNvSpPr>
            <a:spLocks noGrp="1" noChangeArrowheads="1"/>
          </p:cNvSpPr>
          <p:nvPr>
            <p:ph type="dt" idx="1"/>
          </p:nvPr>
        </p:nvSpPr>
        <p:spPr bwMode="auto">
          <a:xfrm>
            <a:off x="3884613" y="0"/>
            <a:ext cx="2971800" cy="488950"/>
          </a:xfrm>
          <a:prstGeom prst="rect">
            <a:avLst/>
          </a:prstGeom>
          <a:noFill/>
          <a:ln w="9525">
            <a:noFill/>
            <a:miter lim="800000"/>
          </a:ln>
          <a:effectLst/>
        </p:spPr>
        <p:txBody>
          <a:bodyPr vert="horz" wrap="square" lIns="91440" tIns="45720" rIns="91440" bIns="45720" numCol="1" anchor="t" anchorCtr="0" compatLnSpc="1"/>
          <a:lstStyle>
            <a:lvl1pPr algn="r">
              <a:defRPr sz="1200">
                <a:latin typeface="Arial" panose="020B0604020202020204" pitchFamily="34" charset="0"/>
              </a:defRPr>
            </a:lvl1pPr>
          </a:lstStyle>
          <a:p>
            <a:endParaRPr lang="de-DE"/>
          </a:p>
        </p:txBody>
      </p:sp>
      <p:sp>
        <p:nvSpPr>
          <p:cNvPr id="12292" name="Rectangle 4"/>
          <p:cNvSpPr>
            <a:spLocks noGrp="1" noRot="1" noChangeAspect="1" noChangeArrowheads="1" noTextEdit="1"/>
          </p:cNvSpPr>
          <p:nvPr>
            <p:ph type="sldImg" idx="2"/>
          </p:nvPr>
        </p:nvSpPr>
        <p:spPr bwMode="auto">
          <a:xfrm>
            <a:off x="171450" y="733425"/>
            <a:ext cx="6515100" cy="3665538"/>
          </a:xfrm>
          <a:prstGeom prst="rect">
            <a:avLst/>
          </a:prstGeom>
          <a:noFill/>
          <a:ln w="9525">
            <a:solidFill>
              <a:srgbClr val="000000"/>
            </a:solidFill>
            <a:miter lim="800000"/>
          </a:ln>
          <a:effectLst/>
        </p:spPr>
      </p:sp>
      <p:sp>
        <p:nvSpPr>
          <p:cNvPr id="12293" name="Rectangle 5"/>
          <p:cNvSpPr>
            <a:spLocks noGrp="1" noChangeArrowheads="1"/>
          </p:cNvSpPr>
          <p:nvPr>
            <p:ph type="body" sz="quarter" idx="3"/>
          </p:nvPr>
        </p:nvSpPr>
        <p:spPr bwMode="auto">
          <a:xfrm>
            <a:off x="685800" y="4643438"/>
            <a:ext cx="5486400" cy="4397375"/>
          </a:xfrm>
          <a:prstGeom prst="rect">
            <a:avLst/>
          </a:prstGeom>
          <a:noFill/>
          <a:ln w="9525">
            <a:noFill/>
            <a:miter lim="800000"/>
          </a:ln>
          <a:effectLst/>
        </p:spPr>
        <p:txBody>
          <a:bodyPr vert="horz" wrap="square" lIns="91440" tIns="45720" rIns="91440" bIns="45720" numCol="1" anchor="t" anchorCtr="0" compatLnSpc="1"/>
          <a:lstStyle/>
          <a:p>
            <a:pPr lvl="0"/>
            <a:r>
              <a:rPr lang="de-DE"/>
              <a:t>Textmasterformate durch Klicken bearbeiten</a:t>
            </a:r>
            <a:endParaRPr lang="de-DE"/>
          </a:p>
          <a:p>
            <a:pPr lvl="1"/>
            <a:r>
              <a:rPr lang="de-DE"/>
              <a:t>Zweite Ebene</a:t>
            </a:r>
            <a:endParaRPr lang="de-DE"/>
          </a:p>
          <a:p>
            <a:pPr lvl="2"/>
            <a:r>
              <a:rPr lang="de-DE"/>
              <a:t>Dritte Ebene</a:t>
            </a:r>
            <a:endParaRPr lang="de-DE"/>
          </a:p>
          <a:p>
            <a:pPr lvl="3"/>
            <a:r>
              <a:rPr lang="de-DE"/>
              <a:t>Vierte Ebene</a:t>
            </a:r>
            <a:endParaRPr lang="de-DE"/>
          </a:p>
          <a:p>
            <a:pPr lvl="4"/>
            <a:r>
              <a:rPr lang="de-DE"/>
              <a:t>Fünfte Ebene</a:t>
            </a:r>
            <a:endParaRPr lang="de-DE"/>
          </a:p>
        </p:txBody>
      </p:sp>
      <p:sp>
        <p:nvSpPr>
          <p:cNvPr id="12294" name="Rectangle 6"/>
          <p:cNvSpPr>
            <a:spLocks noGrp="1" noChangeArrowheads="1"/>
          </p:cNvSpPr>
          <p:nvPr>
            <p:ph type="ftr" sz="quarter" idx="4"/>
          </p:nvPr>
        </p:nvSpPr>
        <p:spPr bwMode="auto">
          <a:xfrm>
            <a:off x="0" y="9283700"/>
            <a:ext cx="2971800" cy="488950"/>
          </a:xfrm>
          <a:prstGeom prst="rect">
            <a:avLst/>
          </a:prstGeom>
          <a:noFill/>
          <a:ln w="9525">
            <a:noFill/>
            <a:miter lim="800000"/>
          </a:ln>
          <a:effectLst/>
        </p:spPr>
        <p:txBody>
          <a:bodyPr vert="horz" wrap="square" lIns="91440" tIns="45720" rIns="91440" bIns="45720" numCol="1" anchor="b" anchorCtr="0" compatLnSpc="1"/>
          <a:lstStyle>
            <a:lvl1pPr>
              <a:defRPr sz="1200">
                <a:latin typeface="Arial" panose="020B0604020202020204" pitchFamily="34" charset="0"/>
              </a:defRPr>
            </a:lvl1pPr>
          </a:lstStyle>
          <a:p>
            <a:endParaRPr lang="de-DE"/>
          </a:p>
        </p:txBody>
      </p:sp>
      <p:sp>
        <p:nvSpPr>
          <p:cNvPr id="12295" name="Rectangle 7"/>
          <p:cNvSpPr>
            <a:spLocks noGrp="1" noChangeArrowheads="1"/>
          </p:cNvSpPr>
          <p:nvPr>
            <p:ph type="sldNum" sz="quarter" idx="5"/>
          </p:nvPr>
        </p:nvSpPr>
        <p:spPr bwMode="auto">
          <a:xfrm>
            <a:off x="3884613" y="9283700"/>
            <a:ext cx="2971800" cy="488950"/>
          </a:xfrm>
          <a:prstGeom prst="rect">
            <a:avLst/>
          </a:prstGeom>
          <a:noFill/>
          <a:ln w="9525">
            <a:noFill/>
            <a:miter lim="800000"/>
          </a:ln>
          <a:effectLst/>
        </p:spPr>
        <p:txBody>
          <a:bodyPr vert="horz" wrap="square" lIns="91440" tIns="45720" rIns="91440" bIns="45720" numCol="1" anchor="b" anchorCtr="0" compatLnSpc="1"/>
          <a:lstStyle>
            <a:lvl1pPr algn="r">
              <a:defRPr sz="1200">
                <a:latin typeface="Arial" panose="020B0604020202020204" pitchFamily="34" charset="0"/>
              </a:defRPr>
            </a:lvl1pPr>
          </a:lstStyle>
          <a:p>
            <a:fld id="{B1936D3B-1A1A-458A-9428-9E381CCD61E7}" type="slidenum">
              <a:rPr lang="de-DE"/>
            </a:fld>
            <a:endParaRPr lang="de-DE"/>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themeOverride" Target="../theme/themeOverride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828799" y="2102203"/>
            <a:ext cx="9086198" cy="523220"/>
          </a:xfrm>
          <a:prstGeom prst="rect">
            <a:avLst/>
          </a:prstGeom>
        </p:spPr>
        <p:txBody>
          <a:bodyPr/>
          <a:lstStyle/>
          <a:p>
            <a:r>
              <a:rPr lang="de-DE" dirty="0"/>
              <a:t>Titelmasterformat durch Klicken bearbeiten</a:t>
            </a:r>
            <a:endParaRPr lang="de-DE" dirty="0"/>
          </a:p>
        </p:txBody>
      </p:sp>
      <p:sp>
        <p:nvSpPr>
          <p:cNvPr id="3" name="Untertitel 2"/>
          <p:cNvSpPr>
            <a:spLocks noGrp="1"/>
          </p:cNvSpPr>
          <p:nvPr>
            <p:ph type="subTitle" idx="1"/>
          </p:nvPr>
        </p:nvSpPr>
        <p:spPr>
          <a:xfrm>
            <a:off x="1828799" y="3384575"/>
            <a:ext cx="9086197" cy="2343150"/>
          </a:xfrm>
          <a:prstGeom prst="rect">
            <a:avLst/>
          </a:prstGeom>
        </p:spPr>
        <p:txBody>
          <a:bodyPr>
            <a:normAutofit/>
          </a:bodyPr>
          <a:lstStyle>
            <a:lvl1pPr marL="0" indent="0" algn="l">
              <a:buNone/>
              <a:defRPr sz="2000"/>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de-DE" dirty="0"/>
              <a:t>Formatvorlage des Untertitelmasters durch Klicken bearbeiten</a:t>
            </a:r>
            <a:endParaRPr lang="de-DE"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27" name="Titel 26"/>
          <p:cNvSpPr>
            <a:spLocks noGrp="1"/>
          </p:cNvSpPr>
          <p:nvPr>
            <p:ph type="title"/>
          </p:nvPr>
        </p:nvSpPr>
        <p:spPr>
          <a:xfrm>
            <a:off x="602585" y="69590"/>
            <a:ext cx="10975015" cy="523220"/>
          </a:xfrm>
        </p:spPr>
        <p:txBody>
          <a:bodyPr wrap="square"/>
          <a:lstStyle>
            <a:lvl1pPr>
              <a:defRPr sz="2800">
                <a:latin typeface="Frutiger LT Com 55 Roman" panose="020B0503030504020204" pitchFamily="34" charset="0"/>
              </a:defRPr>
            </a:lvl1p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10" name="Inhaltsplatzhalter 2"/>
          <p:cNvSpPr>
            <a:spLocks noGrp="1"/>
          </p:cNvSpPr>
          <p:nvPr>
            <p:ph idx="10" hasCustomPrompt="1"/>
          </p:nvPr>
        </p:nvSpPr>
        <p:spPr>
          <a:xfrm>
            <a:off x="602585" y="777600"/>
            <a:ext cx="10975015" cy="5353200"/>
          </a:xfrm>
        </p:spPr>
        <p:txBody>
          <a:bodyPr>
            <a:normAutofit/>
          </a:bodyPr>
          <a:lstStyle>
            <a:lvl1pPr>
              <a:defRPr sz="2000">
                <a:latin typeface="Frutiger LT Com 45 Light" panose="020B0303030504020204" pitchFamily="34" charset="0"/>
              </a:defRPr>
            </a:lvl1pPr>
            <a:lvl2pPr>
              <a:defRPr sz="1800">
                <a:latin typeface="Frutiger LT Com 45 Light" panose="020B0303030504020204" pitchFamily="34" charset="0"/>
              </a:defRPr>
            </a:lvl2pPr>
            <a:lvl3pPr marL="1143000" indent="-228600">
              <a:buFont typeface="Wingdings 2" panose="05020102010507070707" pitchFamily="18" charset="2"/>
              <a:buChar char=""/>
              <a:defRPr sz="1600">
                <a:latin typeface="Frutiger LT Com 45 Light" panose="020B0303030504020204" pitchFamily="34" charset="0"/>
              </a:defRPr>
            </a:lvl3pPr>
            <a:lvl4pPr marL="1600200" indent="-228600">
              <a:buFont typeface="Wingdings 2" panose="05020102010507070707" pitchFamily="18" charset="2"/>
              <a:buChar char=""/>
              <a:defRPr sz="1400">
                <a:latin typeface="Frutiger LT Com 45 Light" panose="020B0303030504020204" pitchFamily="34" charset="0"/>
              </a:defRPr>
            </a:lvl4pPr>
            <a:lvl5pPr marL="2057400" indent="-228600">
              <a:buFont typeface="Wingdings 2" panose="05020102010507070707" pitchFamily="18" charset="2"/>
              <a:buChar char=""/>
              <a:defRPr sz="1400">
                <a:latin typeface="Frutiger LT Com 45 Light" panose="020B0303030504020204" pitchFamily="34" charset="0"/>
              </a:defRPr>
            </a:lvl5pPr>
          </a:lstStyle>
          <a:p>
            <a:pPr lvl="0"/>
            <a:r>
              <a:rPr lang="en-US" noProof="0" dirty="0" err="1"/>
              <a:t>Textmasterformat</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a:p>
            <a:pPr lvl="3"/>
            <a:r>
              <a:rPr lang="en-US" noProof="0" dirty="0" err="1"/>
              <a:t>Vierte</a:t>
            </a:r>
            <a:r>
              <a:rPr lang="en-US" noProof="0" dirty="0"/>
              <a:t> </a:t>
            </a:r>
            <a:r>
              <a:rPr lang="en-US" noProof="0" dirty="0" err="1"/>
              <a:t>Ebene</a:t>
            </a:r>
            <a:endParaRPr lang="en-US" noProof="0" dirty="0"/>
          </a:p>
          <a:p>
            <a:pPr lvl="4"/>
            <a:r>
              <a:rPr lang="en-US" noProof="0" dirty="0" err="1"/>
              <a:t>Fünfte</a:t>
            </a:r>
            <a:r>
              <a:rPr lang="en-US" noProof="0" dirty="0"/>
              <a:t> </a:t>
            </a:r>
            <a:r>
              <a:rPr lang="en-US" noProof="0" dirty="0" err="1"/>
              <a:t>Ebene</a:t>
            </a:r>
            <a:endParaRPr lang="en-US" noProof="0" dirty="0"/>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5" name="Titelplatzhalter 24"/>
          <p:cNvSpPr>
            <a:spLocks noGrp="1"/>
          </p:cNvSpPr>
          <p:nvPr>
            <p:ph type="title"/>
          </p:nvPr>
        </p:nvSpPr>
        <p:spPr>
          <a:xfrm>
            <a:off x="602585" y="69590"/>
            <a:ext cx="10975015" cy="523220"/>
          </a:xfrm>
          <a:prstGeom prst="rect">
            <a:avLst/>
          </a:prstGeom>
        </p:spPr>
        <p:txBody>
          <a:bodyPr vert="horz" wrap="square" lIns="91440" tIns="45720" rIns="0" bIns="45720" rtlCol="0" anchor="ctr">
            <a:spAutoFit/>
          </a:bodyPr>
          <a:lstStyle/>
          <a:p>
            <a:r>
              <a:rPr lang="en-US" noProof="0" dirty="0" err="1"/>
              <a:t>Titelmasterformat</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p:txBody>
      </p:sp>
      <p:sp>
        <p:nvSpPr>
          <p:cNvPr id="26" name="Textplatzhalter 25"/>
          <p:cNvSpPr>
            <a:spLocks noGrp="1"/>
          </p:cNvSpPr>
          <p:nvPr>
            <p:ph type="body" idx="1"/>
          </p:nvPr>
        </p:nvSpPr>
        <p:spPr>
          <a:xfrm>
            <a:off x="602585" y="1602000"/>
            <a:ext cx="10975015" cy="4525200"/>
          </a:xfrm>
          <a:prstGeom prst="rect">
            <a:avLst/>
          </a:prstGeom>
        </p:spPr>
        <p:txBody>
          <a:bodyPr vert="horz" lIns="91440" tIns="45720" rIns="91440" bIns="45720" rtlCol="0">
            <a:normAutofit/>
          </a:bodyPr>
          <a:lstStyle/>
          <a:p>
            <a:pPr lvl="0"/>
            <a:r>
              <a:rPr lang="en-US" noProof="0" dirty="0" err="1"/>
              <a:t>Textmasterformate</a:t>
            </a:r>
            <a:r>
              <a:rPr lang="en-US" noProof="0" dirty="0"/>
              <a:t> </a:t>
            </a:r>
            <a:r>
              <a:rPr lang="en-US" noProof="0" dirty="0" err="1"/>
              <a:t>durch</a:t>
            </a:r>
            <a:r>
              <a:rPr lang="en-US" noProof="0" dirty="0"/>
              <a:t> </a:t>
            </a:r>
            <a:r>
              <a:rPr lang="en-US" noProof="0" dirty="0" err="1"/>
              <a:t>Klicken</a:t>
            </a:r>
            <a:r>
              <a:rPr lang="en-US" noProof="0" dirty="0"/>
              <a:t> </a:t>
            </a:r>
            <a:r>
              <a:rPr lang="en-US" noProof="0" dirty="0" err="1"/>
              <a:t>bearbeiten</a:t>
            </a:r>
            <a:endParaRPr lang="en-US" noProof="0" dirty="0"/>
          </a:p>
          <a:p>
            <a:pPr lvl="1"/>
            <a:r>
              <a:rPr lang="en-US" noProof="0" dirty="0" err="1"/>
              <a:t>Zweite</a:t>
            </a:r>
            <a:r>
              <a:rPr lang="en-US" noProof="0" dirty="0"/>
              <a:t> </a:t>
            </a:r>
            <a:r>
              <a:rPr lang="en-US" noProof="0" dirty="0" err="1"/>
              <a:t>Ebene</a:t>
            </a:r>
            <a:endParaRPr lang="en-US" noProof="0" dirty="0"/>
          </a:p>
          <a:p>
            <a:pPr lvl="2"/>
            <a:r>
              <a:rPr lang="en-US" noProof="0" dirty="0" err="1"/>
              <a:t>Dritte</a:t>
            </a:r>
            <a:r>
              <a:rPr lang="en-US" noProof="0" dirty="0"/>
              <a:t> </a:t>
            </a:r>
            <a:r>
              <a:rPr lang="en-US" noProof="0" dirty="0" err="1"/>
              <a:t>Ebene</a:t>
            </a:r>
            <a:endParaRPr lang="en-US" noProof="0" dirty="0"/>
          </a:p>
        </p:txBody>
      </p:sp>
      <p:sp>
        <p:nvSpPr>
          <p:cNvPr id="10" name="Textfeld 9"/>
          <p:cNvSpPr txBox="1"/>
          <p:nvPr/>
        </p:nvSpPr>
        <p:spPr>
          <a:xfrm>
            <a:off x="489760" y="6451601"/>
            <a:ext cx="4478405" cy="276999"/>
          </a:xfrm>
          <a:prstGeom prst="rect">
            <a:avLst/>
          </a:prstGeom>
          <a:noFill/>
        </p:spPr>
        <p:txBody>
          <a:bodyPr wrap="none" rtlCol="0">
            <a:spAutoFit/>
          </a:bodyPr>
          <a:lstStyle/>
          <a:p>
            <a:r>
              <a:rPr lang="de-DE" sz="1200" noProof="0" dirty="0">
                <a:latin typeface="Frutiger LT Com 45 Light" panose="020B0303030504020204" pitchFamily="34" charset="0"/>
              </a:rPr>
              <a:t>Laborprojekt </a:t>
            </a:r>
            <a:r>
              <a:rPr lang="de-DE" sz="1200" kern="1200" noProof="0" dirty="0">
                <a:solidFill>
                  <a:schemeClr val="tx1"/>
                </a:solidFill>
                <a:latin typeface="Frutiger LT Com 45 Light" panose="020B0303030504020204" pitchFamily="34" charset="0"/>
                <a:ea typeface="+mn-ea"/>
                <a:cs typeface="+mn-cs"/>
              </a:rPr>
              <a:t>Servicerobotik/</a:t>
            </a:r>
            <a:r>
              <a:rPr lang="de-DE" sz="1200" kern="1200" dirty="0">
                <a:solidFill>
                  <a:schemeClr val="tx1"/>
                </a:solidFill>
                <a:latin typeface="Frutiger LT Com 45 Light" panose="020B0303030504020204" pitchFamily="34" charset="0"/>
                <a:ea typeface="+mn-ea"/>
                <a:cs typeface="+mn-cs"/>
              </a:rPr>
              <a:t>Bildverarbeitung für Robotik</a:t>
            </a:r>
            <a:r>
              <a:rPr lang="de-DE" sz="1200" kern="1200" noProof="0" dirty="0">
                <a:solidFill>
                  <a:schemeClr val="tx1"/>
                </a:solidFill>
                <a:latin typeface="Frutiger LT Com 45 Light" panose="020B0303030504020204" pitchFamily="34" charset="0"/>
                <a:ea typeface="+mn-ea"/>
                <a:cs typeface="+mn-cs"/>
              </a:rPr>
              <a:t> SS 2025</a:t>
            </a:r>
            <a:endParaRPr lang="de-DE" sz="1200" kern="1200" noProof="0" dirty="0">
              <a:solidFill>
                <a:schemeClr val="tx1"/>
              </a:solidFill>
              <a:latin typeface="Frutiger LT Com 45 Light" panose="020B0303030504020204" pitchFamily="34" charset="0"/>
              <a:ea typeface="+mn-ea"/>
              <a:cs typeface="+mn-cs"/>
            </a:endParaRPr>
          </a:p>
        </p:txBody>
      </p:sp>
      <p:sp>
        <p:nvSpPr>
          <p:cNvPr id="11" name="Textfeld 10"/>
          <p:cNvSpPr txBox="1"/>
          <p:nvPr/>
        </p:nvSpPr>
        <p:spPr>
          <a:xfrm>
            <a:off x="5433398" y="6451601"/>
            <a:ext cx="3722942" cy="276999"/>
          </a:xfrm>
          <a:prstGeom prst="rect">
            <a:avLst/>
          </a:prstGeom>
          <a:noFill/>
        </p:spPr>
        <p:txBody>
          <a:bodyPr wrap="none" rtlCol="0">
            <a:spAutoFit/>
          </a:bodyPr>
          <a:lstStyle/>
          <a:p>
            <a:r>
              <a:rPr lang="de-DE" sz="1200" noProof="0" dirty="0">
                <a:latin typeface="Frutiger LT Com 45 Light" panose="020B0303030504020204" pitchFamily="34" charset="0"/>
              </a:rPr>
              <a:t>Zwischenpräsentation Projekt 01, &lt;Name</a:t>
            </a:r>
            <a:r>
              <a:rPr lang="de-DE" sz="1200" baseline="0" noProof="0" dirty="0">
                <a:latin typeface="Frutiger LT Com 45 Light" panose="020B0303030504020204" pitchFamily="34" charset="0"/>
              </a:rPr>
              <a:t> Bearbeiter&gt;</a:t>
            </a:r>
            <a:r>
              <a:rPr lang="de-DE" sz="1200" noProof="0" dirty="0">
                <a:latin typeface="Frutiger LT Com 45 Light" panose="020B0303030504020204" pitchFamily="34" charset="0"/>
              </a:rPr>
              <a:t> </a:t>
            </a:r>
            <a:endParaRPr lang="de-DE" sz="1200" noProof="0" dirty="0">
              <a:latin typeface="Frutiger LT Com 45 Light" panose="020B0303030504020204" pitchFamily="34" charset="0"/>
            </a:endParaRPr>
          </a:p>
        </p:txBody>
      </p:sp>
      <p:sp>
        <p:nvSpPr>
          <p:cNvPr id="12" name="Textfeld 11"/>
          <p:cNvSpPr txBox="1"/>
          <p:nvPr/>
        </p:nvSpPr>
        <p:spPr>
          <a:xfrm>
            <a:off x="11183816" y="6451601"/>
            <a:ext cx="454227" cy="276999"/>
          </a:xfrm>
          <a:prstGeom prst="rect">
            <a:avLst/>
          </a:prstGeom>
          <a:noFill/>
        </p:spPr>
        <p:txBody>
          <a:bodyPr wrap="none" rtlCol="0">
            <a:spAutoFit/>
          </a:bodyPr>
          <a:lstStyle/>
          <a:p>
            <a:fld id="{A48E7E1A-9428-4A65-9A82-0771208A7443}" type="slidenum">
              <a:rPr lang="en-US" sz="1200" baseline="0" noProof="0" smtClean="0">
                <a:latin typeface="Frutiger LT Com 45 Light" panose="020B0303030504020204" pitchFamily="34" charset="0"/>
              </a:rPr>
            </a:fld>
            <a:endParaRPr lang="en-US" sz="1200" noProof="0" dirty="0">
              <a:latin typeface="Frutiger LT Com 45 Light" panose="020B0303030504020204" pitchFamily="34" charset="0"/>
            </a:endParaRPr>
          </a:p>
        </p:txBody>
      </p:sp>
      <p:sp>
        <p:nvSpPr>
          <p:cNvPr id="7" name="Rechteck 6"/>
          <p:cNvSpPr/>
          <p:nvPr userDrawn="1"/>
        </p:nvSpPr>
        <p:spPr>
          <a:xfrm>
            <a:off x="0" y="639313"/>
            <a:ext cx="11076923" cy="85210"/>
          </a:xfrm>
          <a:prstGeom prst="rect">
            <a:avLst/>
          </a:prstGeom>
          <a:gradFill flip="none" rotWithShape="1">
            <a:gsLst>
              <a:gs pos="0">
                <a:srgbClr val="009377"/>
              </a:gs>
              <a:gs pos="100000">
                <a:srgbClr val="00937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latin typeface="Frutiger LT Com 45 Light" panose="020B0303030504020204" pitchFamily="34" charset="0"/>
            </a:endParaRPr>
          </a:p>
        </p:txBody>
      </p:sp>
      <p:sp>
        <p:nvSpPr>
          <p:cNvPr id="8" name="Rechteck 7"/>
          <p:cNvSpPr/>
          <p:nvPr userDrawn="1"/>
        </p:nvSpPr>
        <p:spPr>
          <a:xfrm flipH="1">
            <a:off x="1125588" y="6264315"/>
            <a:ext cx="11076923" cy="85210"/>
          </a:xfrm>
          <a:prstGeom prst="rect">
            <a:avLst/>
          </a:prstGeom>
          <a:gradFill flip="none" rotWithShape="1">
            <a:gsLst>
              <a:gs pos="0">
                <a:srgbClr val="009377"/>
              </a:gs>
              <a:gs pos="100000">
                <a:srgbClr val="009377">
                  <a:alpha val="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1600">
              <a:latin typeface="Frutiger LT Com 45 Light" panose="020B0303030504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p:txStyles>
    <p:titleStyle>
      <a:lvl1pPr algn="l" rtl="0" fontAlgn="base">
        <a:spcBef>
          <a:spcPct val="0"/>
        </a:spcBef>
        <a:spcAft>
          <a:spcPct val="0"/>
        </a:spcAft>
        <a:defRPr sz="2800">
          <a:solidFill>
            <a:srgbClr val="4D4D4D"/>
          </a:solidFill>
          <a:latin typeface="Frutiger LT Com 55 Roman" panose="020B0503030504020204" pitchFamily="34" charset="0"/>
          <a:ea typeface="+mj-ea"/>
          <a:cs typeface="+mj-cs"/>
        </a:defRPr>
      </a:lvl1pPr>
      <a:lvl2pPr algn="l" rtl="0" fontAlgn="base">
        <a:spcBef>
          <a:spcPct val="0"/>
        </a:spcBef>
        <a:spcAft>
          <a:spcPct val="0"/>
        </a:spcAft>
        <a:defRPr sz="2800">
          <a:solidFill>
            <a:srgbClr val="4D4D4D"/>
          </a:solidFill>
          <a:latin typeface="Frutiger 55 Roman" pitchFamily="34" charset="0"/>
        </a:defRPr>
      </a:lvl2pPr>
      <a:lvl3pPr algn="l" rtl="0" fontAlgn="base">
        <a:spcBef>
          <a:spcPct val="0"/>
        </a:spcBef>
        <a:spcAft>
          <a:spcPct val="0"/>
        </a:spcAft>
        <a:defRPr sz="2800">
          <a:solidFill>
            <a:srgbClr val="4D4D4D"/>
          </a:solidFill>
          <a:latin typeface="Frutiger 55 Roman" pitchFamily="34" charset="0"/>
        </a:defRPr>
      </a:lvl3pPr>
      <a:lvl4pPr algn="l" rtl="0" fontAlgn="base">
        <a:spcBef>
          <a:spcPct val="0"/>
        </a:spcBef>
        <a:spcAft>
          <a:spcPct val="0"/>
        </a:spcAft>
        <a:defRPr sz="2800">
          <a:solidFill>
            <a:srgbClr val="4D4D4D"/>
          </a:solidFill>
          <a:latin typeface="Frutiger 55 Roman" pitchFamily="34" charset="0"/>
        </a:defRPr>
      </a:lvl4pPr>
      <a:lvl5pPr algn="l" rtl="0" fontAlgn="base">
        <a:spcBef>
          <a:spcPct val="0"/>
        </a:spcBef>
        <a:spcAft>
          <a:spcPct val="0"/>
        </a:spcAft>
        <a:defRPr sz="2800">
          <a:solidFill>
            <a:srgbClr val="4D4D4D"/>
          </a:solidFill>
          <a:latin typeface="Frutiger 55 Roman" pitchFamily="34" charset="0"/>
        </a:defRPr>
      </a:lvl5pPr>
      <a:lvl6pPr marL="457200" algn="l" rtl="0" fontAlgn="base">
        <a:spcBef>
          <a:spcPct val="0"/>
        </a:spcBef>
        <a:spcAft>
          <a:spcPct val="0"/>
        </a:spcAft>
        <a:defRPr sz="2800">
          <a:solidFill>
            <a:srgbClr val="4D4D4D"/>
          </a:solidFill>
          <a:latin typeface="Frutiger 55 Roman" pitchFamily="34" charset="0"/>
        </a:defRPr>
      </a:lvl6pPr>
      <a:lvl7pPr marL="914400" algn="l" rtl="0" fontAlgn="base">
        <a:spcBef>
          <a:spcPct val="0"/>
        </a:spcBef>
        <a:spcAft>
          <a:spcPct val="0"/>
        </a:spcAft>
        <a:defRPr sz="2800">
          <a:solidFill>
            <a:srgbClr val="4D4D4D"/>
          </a:solidFill>
          <a:latin typeface="Frutiger 55 Roman" pitchFamily="34" charset="0"/>
        </a:defRPr>
      </a:lvl7pPr>
      <a:lvl8pPr marL="1371600" algn="l" rtl="0" fontAlgn="base">
        <a:spcBef>
          <a:spcPct val="0"/>
        </a:spcBef>
        <a:spcAft>
          <a:spcPct val="0"/>
        </a:spcAft>
        <a:defRPr sz="2800">
          <a:solidFill>
            <a:srgbClr val="4D4D4D"/>
          </a:solidFill>
          <a:latin typeface="Frutiger 55 Roman" pitchFamily="34" charset="0"/>
        </a:defRPr>
      </a:lvl8pPr>
      <a:lvl9pPr marL="1828800" algn="l" rtl="0" fontAlgn="base">
        <a:spcBef>
          <a:spcPct val="0"/>
        </a:spcBef>
        <a:spcAft>
          <a:spcPct val="0"/>
        </a:spcAft>
        <a:defRPr sz="2800">
          <a:solidFill>
            <a:srgbClr val="4D4D4D"/>
          </a:solidFill>
          <a:latin typeface="Frutiger 55 Roman" pitchFamily="34" charset="0"/>
        </a:defRPr>
      </a:lvl9pPr>
    </p:titleStyle>
    <p:bodyStyle>
      <a:lvl1pPr marL="342900" indent="-342900" algn="l" rtl="0" fontAlgn="base">
        <a:spcBef>
          <a:spcPct val="20000"/>
        </a:spcBef>
        <a:spcAft>
          <a:spcPct val="0"/>
        </a:spcAft>
        <a:buClr>
          <a:srgbClr val="339966"/>
        </a:buClr>
        <a:buFont typeface="Wingdings" panose="05000000000000000000" pitchFamily="2" charset="2"/>
        <a:buChar char="§"/>
        <a:defRPr sz="2400">
          <a:solidFill>
            <a:schemeClr val="tx1"/>
          </a:solidFill>
          <a:latin typeface="Frutiger LT Com 45 Light" panose="020B0303030504020204" pitchFamily="34" charset="0"/>
          <a:ea typeface="+mn-ea"/>
          <a:cs typeface="+mn-cs"/>
        </a:defRPr>
      </a:lvl1pPr>
      <a:lvl2pPr marL="742950" indent="-285750" algn="l" rtl="0" fontAlgn="base">
        <a:spcBef>
          <a:spcPct val="20000"/>
        </a:spcBef>
        <a:spcAft>
          <a:spcPct val="0"/>
        </a:spcAft>
        <a:buClr>
          <a:srgbClr val="339966"/>
        </a:buClr>
        <a:buFont typeface="Arial" panose="020B0604020202020204" pitchFamily="34" charset="0"/>
        <a:buChar char="•"/>
        <a:defRPr sz="2000">
          <a:solidFill>
            <a:schemeClr val="tx1"/>
          </a:solidFill>
          <a:latin typeface="Frutiger LT Com 45 Light" panose="020B0303030504020204" pitchFamily="34" charset="0"/>
        </a:defRPr>
      </a:lvl2pPr>
      <a:lvl3pPr marL="1143000" indent="-228600" algn="l" rtl="0" fontAlgn="base">
        <a:spcBef>
          <a:spcPct val="20000"/>
        </a:spcBef>
        <a:spcAft>
          <a:spcPct val="0"/>
        </a:spcAft>
        <a:buClr>
          <a:srgbClr val="339966"/>
        </a:buClr>
        <a:buFont typeface="Symbol" panose="05050102010706020507" pitchFamily="18" charset="2"/>
        <a:buChar char="-"/>
        <a:defRPr sz="2000">
          <a:solidFill>
            <a:schemeClr val="tx1"/>
          </a:solidFill>
          <a:latin typeface="Frutiger LT Com 45 Light" panose="020B0303030504020204" pitchFamily="34" charset="0"/>
        </a:defRPr>
      </a:lvl3pPr>
      <a:lvl4pPr marL="16002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4pPr>
      <a:lvl5pPr marL="20574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5pPr>
      <a:lvl6pPr marL="25146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6pPr>
      <a:lvl7pPr marL="29718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7pPr>
      <a:lvl8pPr marL="34290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8pPr>
      <a:lvl9pPr marL="3886200" indent="-228600" algn="l" rtl="0" fontAlgn="base">
        <a:spcBef>
          <a:spcPct val="20000"/>
        </a:spcBef>
        <a:spcAft>
          <a:spcPct val="0"/>
        </a:spcAft>
        <a:buClr>
          <a:srgbClr val="339966"/>
        </a:buClr>
        <a:buFont typeface="Wingdings 2" panose="05020102010507070707" pitchFamily="18" charset="2"/>
        <a:buChar char="­"/>
        <a:defRPr sz="2000">
          <a:solidFill>
            <a:schemeClr val="tx1"/>
          </a:solidFill>
          <a:latin typeface="+mn-lt"/>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jpeg"/><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jpeg"/><Relationship Id="rId1" Type="http://schemas.openxmlformats.org/officeDocument/2006/relationships/image" Target="../media/image7.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emf"/><Relationship Id="rId2" Type="http://schemas.openxmlformats.org/officeDocument/2006/relationships/image" Target="../media/image10.emf"/><Relationship Id="rId1" Type="http://schemas.openxmlformats.org/officeDocument/2006/relationships/image" Target="../media/image9.emf"/></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emf"/></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jpeg"/><Relationship Id="rId1" Type="http://schemas.openxmlformats.org/officeDocument/2006/relationships/image" Target="../media/image1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30890" y="2168568"/>
            <a:ext cx="7290810" cy="3892671"/>
          </a:xfrm>
          <a:prstGeom prst="rect">
            <a:avLst/>
          </a:prstGeom>
        </p:spPr>
      </p:pic>
      <p:sp>
        <p:nvSpPr>
          <p:cNvPr id="4" name="Titel 3"/>
          <p:cNvSpPr>
            <a:spLocks noGrp="1"/>
          </p:cNvSpPr>
          <p:nvPr>
            <p:ph type="ctrTitle"/>
          </p:nvPr>
        </p:nvSpPr>
        <p:spPr>
          <a:xfrm>
            <a:off x="605155" y="242175"/>
            <a:ext cx="10935970" cy="2296160"/>
          </a:xfrm>
        </p:spPr>
        <p:txBody>
          <a:bodyPr>
            <a:noAutofit/>
          </a:bodyPr>
          <a:lstStyle/>
          <a:p>
            <a:r>
              <a:rPr lang="de-DE" dirty="0"/>
              <a:t>Laborprojekt Servicerobotik / Bildverarbeitung für Robotik 2025</a:t>
            </a:r>
            <a:br>
              <a:rPr lang="de-DE" dirty="0"/>
            </a:br>
            <a:r>
              <a:rPr lang="de-DE" dirty="0"/>
              <a:t>Zwischenpräsentation</a:t>
            </a:r>
            <a:br>
              <a:rPr lang="de-DE" dirty="0"/>
            </a:br>
            <a:r>
              <a:rPr lang="de-DE" dirty="0"/>
              <a:t>Projekt 01: </a:t>
            </a:r>
            <a:r>
              <a:rPr lang="en-US" altLang="zh-CN" dirty="0"/>
              <a:t>Bottle Detection</a:t>
            </a:r>
            <a:endParaRPr lang="de-DE" dirty="0"/>
          </a:p>
        </p:txBody>
      </p:sp>
      <p:sp>
        <p:nvSpPr>
          <p:cNvPr id="5" name="Untertitel 4"/>
          <p:cNvSpPr>
            <a:spLocks noGrp="1"/>
          </p:cNvSpPr>
          <p:nvPr>
            <p:ph type="subTitle" idx="1"/>
          </p:nvPr>
        </p:nvSpPr>
        <p:spPr>
          <a:xfrm>
            <a:off x="5150895" y="5875787"/>
            <a:ext cx="7382535" cy="408515"/>
          </a:xfrm>
        </p:spPr>
        <p:txBody>
          <a:bodyPr/>
          <a:lstStyle/>
          <a:p>
            <a:r>
              <a:rPr lang="de-DE" dirty="0"/>
              <a:t>Bearbeiter: </a:t>
            </a:r>
            <a:r>
              <a:rPr lang="en-US" altLang="zh-CN" dirty="0"/>
              <a:t>Mo Li/Xiang Ji/</a:t>
            </a:r>
            <a:r>
              <a:rPr lang="en-US" altLang="zh-CN" dirty="0" err="1"/>
              <a:t>Chenghao</a:t>
            </a:r>
            <a:r>
              <a:rPr lang="en-US" altLang="zh-CN" dirty="0"/>
              <a:t> Li</a:t>
            </a:r>
            <a:endParaRPr lang="de-DE" dirty="0"/>
          </a:p>
        </p:txBody>
      </p:sp>
      <p:sp>
        <p:nvSpPr>
          <p:cNvPr id="7" name="文本框 6"/>
          <p:cNvSpPr txBox="1"/>
          <p:nvPr/>
        </p:nvSpPr>
        <p:spPr>
          <a:xfrm>
            <a:off x="10551495" y="5875787"/>
            <a:ext cx="1501405" cy="338554"/>
          </a:xfrm>
          <a:prstGeom prst="rect">
            <a:avLst/>
          </a:prstGeom>
          <a:noFill/>
        </p:spPr>
        <p:txBody>
          <a:bodyPr wrap="square" rtlCol="0">
            <a:spAutoFit/>
          </a:bodyPr>
          <a:lstStyle/>
          <a:p>
            <a:r>
              <a:rPr lang="en-US" altLang="zh-CN" dirty="0"/>
              <a:t>19.05.2025</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dirty="0"/>
              <a:t>Motivation</a:t>
            </a:r>
            <a:endParaRPr lang="en-US" dirty="0"/>
          </a:p>
        </p:txBody>
      </p:sp>
      <p:sp>
        <p:nvSpPr>
          <p:cNvPr id="3" name="Inhaltsplatzhalter 2"/>
          <p:cNvSpPr>
            <a:spLocks noGrp="1"/>
          </p:cNvSpPr>
          <p:nvPr>
            <p:ph idx="10"/>
          </p:nvPr>
        </p:nvSpPr>
        <p:spPr/>
        <p:txBody>
          <a:bodyPr>
            <a:normAutofit/>
          </a:bodyPr>
          <a:lstStyle/>
          <a:p>
            <a:pPr marL="0" indent="0">
              <a:buNone/>
            </a:pPr>
            <a:endParaRPr lang="en-US" altLang="zh-CN" dirty="0"/>
          </a:p>
          <a:p>
            <a:r>
              <a:rPr lang="en-US" altLang="zh-CN" dirty="0"/>
              <a:t>The aspect focuses on using deep learning techniques for the automated detection of bottle.</a:t>
            </a:r>
            <a:endParaRPr lang="en-US" altLang="zh-CN" dirty="0"/>
          </a:p>
          <a:p>
            <a:endParaRPr lang="en-US" altLang="zh-CN" dirty="0"/>
          </a:p>
          <a:p>
            <a:pPr marL="0" indent="0">
              <a:buNone/>
            </a:pPr>
            <a:r>
              <a:rPr lang="en-US" altLang="zh-CN" dirty="0"/>
              <a:t>Why is this important?</a:t>
            </a:r>
            <a:endParaRPr lang="en-US" altLang="zh-CN" dirty="0"/>
          </a:p>
          <a:p>
            <a:r>
              <a:rPr lang="en-US" altLang="zh-CN" dirty="0"/>
              <a:t> It has practical applications in areas such as recycling, waste management, and automated sorting systems. Efficient classification of bottles can lead to better resource management, reduce waste, and promote sustainable practices. Moreover, using models like YOLO can significantly improve the speed and accuracy of the classification process in real-time environments.</a:t>
            </a:r>
            <a:endParaRPr lang="en-US" altLang="zh-CN" dirty="0"/>
          </a:p>
          <a:p>
            <a:endParaRPr lang="en-US" altLang="zh-CN" dirty="0"/>
          </a:p>
          <a:p>
            <a:r>
              <a:rPr lang="en-US" altLang="zh-CN" dirty="0"/>
              <a:t>We plan to perform bottle classification using the YOLO model, which includes tasks such as data preprocessing, model training, evaluation, and improvement. Additionally, we plan to enhance the model's performance by applying techniques like data augmentation and fine-tuning network parameters to improve classification accuracy.</a:t>
            </a:r>
            <a:endParaRPr lang="en-US" altLang="zh-C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Stand der Implementierung</a:t>
            </a:r>
            <a:endParaRPr lang="de-DE" dirty="0"/>
          </a:p>
        </p:txBody>
      </p:sp>
      <p:sp>
        <p:nvSpPr>
          <p:cNvPr id="3" name="Inhaltsplatzhalter 2"/>
          <p:cNvSpPr>
            <a:spLocks noGrp="1"/>
          </p:cNvSpPr>
          <p:nvPr>
            <p:ph idx="10"/>
          </p:nvPr>
        </p:nvSpPr>
        <p:spPr/>
        <p:txBody>
          <a:bodyPr/>
          <a:lstStyle/>
          <a:p>
            <a:endParaRPr lang="en-US" altLang="zh-CN" dirty="0"/>
          </a:p>
          <a:p>
            <a:r>
              <a:rPr lang="en-US" altLang="zh-CN" dirty="0"/>
              <a:t>Current progress: Load the dataset (convert 3D data to 2D) + Preprocess the dataset + Data augmentation + Try training the model using YOLO</a:t>
            </a:r>
            <a:endParaRPr lang="en-US" altLang="zh-CN" dirty="0"/>
          </a:p>
          <a:p>
            <a:endParaRPr lang="en-US" altLang="zh-CN" dirty="0"/>
          </a:p>
          <a:p>
            <a:r>
              <a:rPr lang="en-US" altLang="zh-CN" dirty="0"/>
              <a:t>Current challenge: How to improve training accuracy?</a:t>
            </a:r>
            <a:endParaRPr lang="en-US" altLang="zh-CN" dirty="0"/>
          </a:p>
          <a:p>
            <a:endParaRPr lang="en-US" altLang="zh-CN" dirty="0"/>
          </a:p>
          <a:p>
            <a:r>
              <a:rPr lang="en-US" altLang="zh-CN" dirty="0"/>
              <a:t>Not started yet: The trained model has not been tested </a:t>
            </a:r>
            <a:endParaRPr lang="en-US" altLang="zh-CN" dirty="0"/>
          </a:p>
          <a:p>
            <a:endParaRPr lang="de-DE" dirty="0"/>
          </a:p>
        </p:txBody>
      </p:sp>
      <p:pic>
        <p:nvPicPr>
          <p:cNvPr id="4" name="图片 3" descr="000_000000_000_rgb"/>
          <p:cNvPicPr>
            <a:picLocks noChangeAspect="1"/>
          </p:cNvPicPr>
          <p:nvPr/>
        </p:nvPicPr>
        <p:blipFill>
          <a:blip r:embed="rId1"/>
          <a:stretch>
            <a:fillRect/>
          </a:stretch>
        </p:blipFill>
        <p:spPr>
          <a:xfrm>
            <a:off x="7536180" y="2078355"/>
            <a:ext cx="3819525" cy="28651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Stand der Implementierung</a:t>
            </a:r>
            <a:endParaRPr lang="de-DE" dirty="0"/>
          </a:p>
        </p:txBody>
      </p:sp>
      <p:sp>
        <p:nvSpPr>
          <p:cNvPr id="3" name="Inhaltsplatzhalter 2"/>
          <p:cNvSpPr>
            <a:spLocks noGrp="1"/>
          </p:cNvSpPr>
          <p:nvPr>
            <p:ph idx="10"/>
          </p:nvPr>
        </p:nvSpPr>
        <p:spPr/>
        <p:txBody>
          <a:bodyPr/>
          <a:lstStyle/>
          <a:p>
            <a:endParaRPr lang="en-US" altLang="zh-CN" dirty="0"/>
          </a:p>
          <a:p>
            <a:endParaRPr lang="en-US" altLang="zh-CN" dirty="0"/>
          </a:p>
          <a:p>
            <a:r>
              <a:rPr lang="en-US" altLang="zh-CN" dirty="0"/>
              <a:t>Xiang Ji &amp; Chenghao Li: Dataset processing + model training</a:t>
            </a:r>
            <a:endParaRPr lang="en-US" altLang="zh-CN" dirty="0"/>
          </a:p>
          <a:p>
            <a:endParaRPr lang="en-US" altLang="zh-CN" dirty="0"/>
          </a:p>
          <a:p>
            <a:r>
              <a:rPr lang="en-US" altLang="zh-CN" dirty="0"/>
              <a:t>Mo Li: Model testing + report writing</a:t>
            </a:r>
            <a:endParaRPr lang="en-US" altLang="zh-CN" dirty="0"/>
          </a:p>
          <a:p>
            <a:endParaRPr lang="en-US" altLang="zh-CN" dirty="0"/>
          </a:p>
          <a:p>
            <a:r>
              <a:rPr lang="en-US" altLang="zh-CN" dirty="0">
                <a:sym typeface="+mn-ea"/>
              </a:rPr>
              <a:t>There are currently no unexpected difficulties, and the project is progressing according to plan.</a:t>
            </a:r>
            <a:endParaRPr lang="en-US" altLang="zh-C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Main Approach</a:t>
            </a:r>
            <a:endParaRPr lang="zh-CN" altLang="en-US" dirty="0"/>
          </a:p>
        </p:txBody>
      </p:sp>
      <p:pic>
        <p:nvPicPr>
          <p:cNvPr id="7" name="内容占位符 6" descr="图形用户界面&#10;&#10;AI 生成的内容可能不正确。"/>
          <p:cNvPicPr>
            <a:picLocks noGrp="1" noChangeAspect="1"/>
          </p:cNvPicPr>
          <p:nvPr>
            <p:ph idx="10"/>
          </p:nvPr>
        </p:nvPicPr>
        <p:blipFill>
          <a:blip r:embed="rId1">
            <a:extLst>
              <a:ext uri="{28A0092B-C50C-407E-A947-70E740481C1C}">
                <a14:useLocalDpi xmlns:a14="http://schemas.microsoft.com/office/drawing/2010/main" val="0"/>
              </a:ext>
            </a:extLst>
          </a:blip>
          <a:stretch>
            <a:fillRect/>
          </a:stretch>
        </p:blipFill>
        <p:spPr bwMode="auto">
          <a:xfrm>
            <a:off x="591739" y="818710"/>
            <a:ext cx="5144221" cy="2929969"/>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4"/>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9" name="文本框 8"/>
          <p:cNvSpPr txBox="1"/>
          <p:nvPr/>
        </p:nvSpPr>
        <p:spPr>
          <a:xfrm>
            <a:off x="581954" y="4194085"/>
            <a:ext cx="4183135" cy="1477328"/>
          </a:xfrm>
          <a:prstGeom prst="rect">
            <a:avLst/>
          </a:prstGeom>
          <a:noFill/>
        </p:spPr>
        <p:txBody>
          <a:bodyPr wrap="square" rtlCol="0">
            <a:spAutoFit/>
          </a:bodyPr>
          <a:lstStyle/>
          <a:p>
            <a:r>
              <a:rPr lang="en-US" altLang="zh-CN" sz="1800" b="1" kern="100" dirty="0">
                <a:effectLst/>
                <a:latin typeface="Segoe UI Emoji" panose="020B0502040204020203" pitchFamily="34" charset="0"/>
                <a:ea typeface="等线" panose="02010600030101010101" pitchFamily="2" charset="-122"/>
                <a:cs typeface="Segoe UI Emoji" panose="020B0502040204020203" pitchFamily="34" charset="0"/>
              </a:rPr>
              <a:t>🔧</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Key Features</a:t>
            </a:r>
            <a:endPar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1800" dirty="0">
                <a:effectLst/>
                <a:latin typeface="等线" panose="02010600030101010101" pitchFamily="2" charset="-122"/>
                <a:cs typeface="Times New Roman" panose="02020603050405020304" pitchFamily="18" charset="0"/>
              </a:rPr>
              <a:t>High detection accuracy</a:t>
            </a:r>
            <a:endParaRPr lang="en-US" altLang="zh-CN" sz="1800" dirty="0">
              <a:effectLst/>
              <a:latin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1800" dirty="0">
                <a:effectLst/>
                <a:latin typeface="等线" panose="02010600030101010101" pitchFamily="2" charset="-122"/>
                <a:cs typeface="Times New Roman" panose="02020603050405020304" pitchFamily="18" charset="0"/>
              </a:rPr>
              <a:t>Lightweight design</a:t>
            </a:r>
            <a:endParaRPr lang="en-US" altLang="zh-CN" sz="1800" dirty="0">
              <a:effectLst/>
              <a:latin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1800" dirty="0">
                <a:effectLst/>
                <a:latin typeface="等线" panose="02010600030101010101" pitchFamily="2" charset="-122"/>
                <a:cs typeface="Times New Roman" panose="02020603050405020304" pitchFamily="18" charset="0"/>
              </a:rPr>
              <a:t>More stable training</a:t>
            </a:r>
            <a:endParaRPr lang="en-US" altLang="zh-CN" sz="1800" dirty="0">
              <a:latin typeface="等线" panose="02010600030101010101" pitchFamily="2" charset="-122"/>
              <a:cs typeface="Times New Roman" panose="02020603050405020304" pitchFamily="18" charset="0"/>
            </a:endParaRPr>
          </a:p>
          <a:p>
            <a:pPr marL="285750" indent="-285750">
              <a:buFont typeface="Arial" panose="020B0604020202020204" pitchFamily="34" charset="0"/>
              <a:buChar char="•"/>
            </a:pPr>
            <a:r>
              <a:rPr lang="en-US" altLang="zh-CN" sz="1800" dirty="0">
                <a:effectLst/>
                <a:latin typeface="等线" panose="02010600030101010101" pitchFamily="2" charset="-122"/>
                <a:cs typeface="Times New Roman" panose="02020603050405020304" pitchFamily="18" charset="0"/>
              </a:rPr>
              <a:t>Multi-task support</a:t>
            </a:r>
            <a:endParaRPr lang="zh-CN" altLang="en-US" dirty="0"/>
          </a:p>
        </p:txBody>
      </p:sp>
      <p:pic>
        <p:nvPicPr>
          <p:cNvPr id="16" name="图片 15" descr="人们在滑雪&#10;&#10;AI 生成的内容可能不正确。"/>
          <p:cNvPicPr>
            <a:picLocks noChangeAspect="1"/>
          </p:cNvPicPr>
          <p:nvPr/>
        </p:nvPicPr>
        <p:blipFill>
          <a:blip r:embed="rId2">
            <a:extLst>
              <a:ext uri="{28A0092B-C50C-407E-A947-70E740481C1C}">
                <a14:useLocalDpi xmlns:a14="http://schemas.microsoft.com/office/drawing/2010/main" val="0"/>
              </a:ext>
            </a:extLst>
          </a:blip>
          <a:srcRect t="50119" r="-733" b="-10660"/>
          <a:stretch>
            <a:fillRect/>
          </a:stretch>
        </p:blipFill>
        <p:spPr>
          <a:xfrm>
            <a:off x="6090092" y="1493785"/>
            <a:ext cx="6148064" cy="50321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0"/>
          </p:nvPr>
        </p:nvSpPr>
        <p:spPr/>
        <p:txBody>
          <a:bodyPr/>
          <a:lstStyle/>
          <a:p>
            <a:r>
              <a:rPr lang="en-US" altLang="zh-CN" dirty="0"/>
              <a:t>As a first step, we have successfully set up the YOLO environment.</a:t>
            </a:r>
            <a:endParaRPr lang="en-US" altLang="zh-CN" dirty="0"/>
          </a:p>
          <a:p>
            <a:endParaRPr lang="en-US" altLang="zh-CN" dirty="0"/>
          </a:p>
          <a:p>
            <a:r>
              <a:rPr lang="en-US" altLang="zh-CN" dirty="0"/>
              <a:t>In the second step, We tried to directly process online images using the YOLO model.</a:t>
            </a:r>
            <a:endParaRPr lang="en-US" altLang="zh-CN" dirty="0"/>
          </a:p>
          <a:p>
            <a:endParaRPr lang="en-US" altLang="zh-CN" dirty="0"/>
          </a:p>
          <a:p>
            <a:endParaRPr lang="en-US" altLang="zh-CN" dirty="0"/>
          </a:p>
        </p:txBody>
      </p:sp>
      <p:sp>
        <p:nvSpPr>
          <p:cNvPr id="2" name="日期占位符 1"/>
          <p:cNvSpPr>
            <a:spLocks noGrp="1"/>
          </p:cNvSpPr>
          <p:nvPr>
            <p:ph type="dt" sz="half" idx="4294967295"/>
          </p:nvPr>
        </p:nvSpPr>
        <p:spPr>
          <a:xfrm>
            <a:off x="0" y="6356350"/>
            <a:ext cx="2743200" cy="365125"/>
          </a:xfrm>
        </p:spPr>
        <p:txBody>
          <a:bodyPr/>
          <a:lstStyle/>
          <a:p>
            <a:fld id="{82F288E0-7875-42C4-84C8-98DBBD3BF4D2}" type="datetimeFigureOut">
              <a:rPr lang="zh-CN" altLang="en-US" smtClean="0"/>
            </a:fld>
            <a:endParaRPr lang="zh-CN" altLang="en-US"/>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fld>
            <a:endParaRPr lang="zh-CN" altLang="en-US"/>
          </a:p>
        </p:txBody>
      </p:sp>
      <p:pic>
        <p:nvPicPr>
          <p:cNvPr id="7" name="图片 6" descr="图片包含 木, 桌子, 板子, 绿色&#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8183" y="2242541"/>
            <a:ext cx="5770206" cy="3834631"/>
          </a:xfrm>
          <a:prstGeom prst="rect">
            <a:avLst/>
          </a:prstGeom>
        </p:spPr>
      </p:pic>
      <p:pic>
        <p:nvPicPr>
          <p:cNvPr id="3" name="图片 2" descr="图片包含 应用程序&#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83327" y="2242542"/>
            <a:ext cx="5770206" cy="3831418"/>
          </a:xfrm>
          <a:prstGeom prst="rect">
            <a:avLst/>
          </a:prstGeom>
        </p:spPr>
      </p:pic>
      <p:sp>
        <p:nvSpPr>
          <p:cNvPr id="12" name="标题 11"/>
          <p:cNvSpPr>
            <a:spLocks noGrp="1"/>
          </p:cNvSpPr>
          <p:nvPr>
            <p:ph type="title"/>
          </p:nvPr>
        </p:nvSpPr>
        <p:spPr/>
        <p:txBody>
          <a:bodyPr/>
          <a:lstStyle/>
          <a:p>
            <a:r>
              <a:rPr lang="en-US" altLang="zh-CN" dirty="0"/>
              <a:t>Implementation</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Implementation</a:t>
            </a:r>
            <a:endParaRPr lang="zh-CN" altLang="en-US" dirty="0"/>
          </a:p>
        </p:txBody>
      </p:sp>
      <p:sp>
        <p:nvSpPr>
          <p:cNvPr id="3" name="内容占位符 2"/>
          <p:cNvSpPr>
            <a:spLocks noGrp="1"/>
          </p:cNvSpPr>
          <p:nvPr>
            <p:ph idx="10"/>
          </p:nvPr>
        </p:nvSpPr>
        <p:spPr>
          <a:xfrm>
            <a:off x="602585" y="777599"/>
            <a:ext cx="10975015" cy="5621731"/>
          </a:xfrm>
        </p:spPr>
        <p:txBody>
          <a:bodyPr>
            <a:normAutofit/>
          </a:bodyPr>
          <a:lstStyle/>
          <a:p>
            <a:r>
              <a:rPr lang="en-US" altLang="zh-CN" b="0" i="0" dirty="0">
                <a:solidFill>
                  <a:srgbClr val="111111"/>
                </a:solidFill>
                <a:effectLst/>
                <a:latin typeface="Arial" panose="020B0604020202020204" pitchFamily="34" charset="0"/>
              </a:rPr>
              <a:t>Thirdly, we organized the data provided to us, with the steps: </a:t>
            </a:r>
            <a:endParaRPr lang="en-US" altLang="zh-CN" b="0" i="0" dirty="0">
              <a:solidFill>
                <a:srgbClr val="111111"/>
              </a:solidFill>
              <a:effectLst/>
              <a:latin typeface="Arial" panose="020B0604020202020204" pitchFamily="34" charset="0"/>
            </a:endParaRPr>
          </a:p>
          <a:p>
            <a:pPr marL="457200" indent="-457200">
              <a:buAutoNum type="arabicPeriod"/>
            </a:pPr>
            <a:r>
              <a:rPr lang="en-US" altLang="zh-CN" b="0" i="0" dirty="0">
                <a:solidFill>
                  <a:srgbClr val="111111"/>
                </a:solidFill>
                <a:effectLst/>
                <a:latin typeface="Arial" panose="020B0604020202020204" pitchFamily="34" charset="0"/>
              </a:rPr>
              <a:t>Combine the </a:t>
            </a:r>
            <a:r>
              <a:rPr lang="en-US" altLang="zh-CN" b="0" i="0" dirty="0" err="1">
                <a:solidFill>
                  <a:srgbClr val="111111"/>
                </a:solidFill>
                <a:effectLst/>
                <a:latin typeface="Arial" panose="020B0604020202020204" pitchFamily="34" charset="0"/>
              </a:rPr>
              <a:t>gt</a:t>
            </a:r>
            <a:r>
              <a:rPr lang="en-US" altLang="zh-CN" b="0" i="0" dirty="0">
                <a:solidFill>
                  <a:srgbClr val="111111"/>
                </a:solidFill>
                <a:effectLst/>
                <a:latin typeface="Arial" panose="020B0604020202020204" pitchFamily="34" charset="0"/>
              </a:rPr>
              <a:t> file with the camera intrinsic parameters K and perform normalization, </a:t>
            </a:r>
            <a:endParaRPr lang="en-US" altLang="zh-CN" b="0" i="0" dirty="0">
              <a:solidFill>
                <a:srgbClr val="111111"/>
              </a:solidFill>
              <a:effectLst/>
              <a:latin typeface="Arial" panose="020B0604020202020204" pitchFamily="34" charset="0"/>
            </a:endParaRPr>
          </a:p>
          <a:p>
            <a:pPr marL="457200" indent="-457200">
              <a:buAutoNum type="arabicPeriod"/>
            </a:pPr>
            <a:r>
              <a:rPr lang="en-US" altLang="zh-CN" b="0" i="0" dirty="0">
                <a:solidFill>
                  <a:srgbClr val="111111"/>
                </a:solidFill>
                <a:effectLst/>
                <a:latin typeface="Arial" panose="020B0604020202020204" pitchFamily="34" charset="0"/>
              </a:rPr>
              <a:t>Organize the data into a single dataset, </a:t>
            </a:r>
            <a:endParaRPr lang="en-US" altLang="zh-CN" dirty="0">
              <a:solidFill>
                <a:srgbClr val="111111"/>
              </a:solidFill>
              <a:latin typeface="Arial" panose="020B0604020202020204" pitchFamily="34" charset="0"/>
            </a:endParaRPr>
          </a:p>
          <a:p>
            <a:pPr marL="457200" indent="-457200">
              <a:buAutoNum type="arabicPeriod"/>
            </a:pPr>
            <a:endParaRPr lang="en-US" altLang="zh-CN" b="0" i="0" dirty="0">
              <a:solidFill>
                <a:srgbClr val="111111"/>
              </a:solidFill>
              <a:effectLst/>
              <a:latin typeface="Arial" panose="020B0604020202020204" pitchFamily="34" charset="0"/>
            </a:endParaRPr>
          </a:p>
          <a:p>
            <a:pPr marL="457200" indent="-457200">
              <a:buAutoNum type="arabicPeriod"/>
            </a:pPr>
            <a:endParaRPr lang="en-US" altLang="zh-CN" dirty="0">
              <a:solidFill>
                <a:srgbClr val="111111"/>
              </a:solidFill>
              <a:latin typeface="Arial" panose="020B0604020202020204" pitchFamily="34" charset="0"/>
            </a:endParaRPr>
          </a:p>
          <a:p>
            <a:pPr marL="457200" indent="-457200">
              <a:buAutoNum type="arabicPeriod"/>
            </a:pPr>
            <a:endParaRPr lang="en-US" altLang="zh-CN" b="0" i="0" dirty="0">
              <a:solidFill>
                <a:srgbClr val="111111"/>
              </a:solidFill>
              <a:effectLst/>
              <a:latin typeface="Arial" panose="020B0604020202020204" pitchFamily="34" charset="0"/>
            </a:endParaRPr>
          </a:p>
          <a:p>
            <a:pPr marL="457200" indent="-457200">
              <a:buAutoNum type="arabicPeriod"/>
            </a:pPr>
            <a:endParaRPr lang="en-US" altLang="zh-CN" dirty="0">
              <a:solidFill>
                <a:srgbClr val="111111"/>
              </a:solidFill>
              <a:latin typeface="Arial" panose="020B0604020202020204" pitchFamily="34" charset="0"/>
            </a:endParaRPr>
          </a:p>
          <a:p>
            <a:pPr marL="457200" indent="-457200">
              <a:buAutoNum type="arabicPeriod"/>
            </a:pPr>
            <a:endParaRPr lang="en-US" altLang="zh-CN" b="0" i="0" dirty="0">
              <a:solidFill>
                <a:srgbClr val="111111"/>
              </a:solidFill>
              <a:effectLst/>
              <a:latin typeface="Arial" panose="020B0604020202020204" pitchFamily="34" charset="0"/>
            </a:endParaRPr>
          </a:p>
          <a:p>
            <a:pPr marL="457200" indent="-457200">
              <a:buAutoNum type="arabicPeriod"/>
            </a:pPr>
            <a:endParaRPr lang="en-US" altLang="zh-CN" b="0" i="0" dirty="0">
              <a:solidFill>
                <a:srgbClr val="111111"/>
              </a:solidFill>
              <a:effectLst/>
              <a:latin typeface="Arial" panose="020B0604020202020204" pitchFamily="34" charset="0"/>
            </a:endParaRPr>
          </a:p>
          <a:p>
            <a:pPr marL="457200" indent="-457200">
              <a:buAutoNum type="arabicPeriod"/>
            </a:pPr>
            <a:r>
              <a:rPr lang="en-US" altLang="zh-CN" b="0" i="0" dirty="0">
                <a:solidFill>
                  <a:srgbClr val="111111"/>
                </a:solidFill>
                <a:effectLst/>
                <a:latin typeface="Arial" panose="020B0604020202020204" pitchFamily="34" charset="0"/>
              </a:rPr>
              <a:t> Attempt data augmentation using 3D files, etc.</a:t>
            </a:r>
            <a:endParaRPr lang="zh-CN" altLang="en-US" dirty="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rcRect l="5921" t="13486" r="6657" b="7101"/>
          <a:stretch>
            <a:fillRect/>
          </a:stretch>
        </p:blipFill>
        <p:spPr>
          <a:xfrm>
            <a:off x="920115" y="1898650"/>
            <a:ext cx="5063490" cy="1971675"/>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35750" y="3293745"/>
            <a:ext cx="5420995" cy="258699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02585" y="70215"/>
            <a:ext cx="10975015" cy="521970"/>
          </a:xfrm>
        </p:spPr>
        <p:txBody>
          <a:bodyPr/>
          <a:lstStyle/>
          <a:p>
            <a:r>
              <a:rPr lang="de-DE" dirty="0">
                <a:sym typeface="+mn-ea"/>
              </a:rPr>
              <a:t>Geplante Experimente und Auswertung</a:t>
            </a:r>
            <a:endParaRPr lang="zh-CN" altLang="en-US"/>
          </a:p>
        </p:txBody>
      </p:sp>
      <p:sp>
        <p:nvSpPr>
          <p:cNvPr id="6" name="内容占位符 5"/>
          <p:cNvSpPr>
            <a:spLocks noGrp="1"/>
          </p:cNvSpPr>
          <p:nvPr>
            <p:ph idx="10"/>
          </p:nvPr>
        </p:nvSpPr>
        <p:spPr/>
        <p:txBody>
          <a:bodyPr/>
          <a:lstStyle/>
          <a:p>
            <a:pPr marL="0" indent="0">
              <a:buNone/>
            </a:pPr>
            <a:r>
              <a:rPr lang="en-US" altLang="zh-CN"/>
              <a:t> Next steps :</a:t>
            </a:r>
            <a:endParaRPr lang="en-US" altLang="zh-CN"/>
          </a:p>
          <a:p>
            <a:pPr marL="457200" lvl="1" indent="0">
              <a:buNone/>
            </a:pPr>
            <a:endParaRPr lang="en-US" altLang="zh-CN" sz="2000">
              <a:solidFill>
                <a:schemeClr val="tx1"/>
              </a:solidFill>
            </a:endParaRPr>
          </a:p>
          <a:p>
            <a:pPr marL="457200" lvl="1" indent="0">
              <a:buNone/>
            </a:pPr>
            <a:r>
              <a:rPr lang="en-US" altLang="zh-CN" sz="2000">
                <a:solidFill>
                  <a:schemeClr val="tx1"/>
                </a:solidFill>
              </a:rPr>
              <a:t>1.  </a:t>
            </a:r>
            <a:r>
              <a:rPr lang="en-US" altLang="zh-CN" sz="2000" dirty="0">
                <a:sym typeface="+mn-ea"/>
              </a:rPr>
              <a:t>Data augmentation</a:t>
            </a:r>
            <a:r>
              <a:rPr lang="en-US" altLang="zh-CN" sz="2000">
                <a:solidFill>
                  <a:schemeClr val="tx1"/>
                </a:solidFill>
              </a:rPr>
              <a:t> </a:t>
            </a:r>
            <a:endParaRPr lang="en-US" altLang="zh-CN" sz="2000">
              <a:solidFill>
                <a:schemeClr val="tx1"/>
              </a:solidFill>
            </a:endParaRPr>
          </a:p>
          <a:p>
            <a:pPr marL="457200" lvl="1" indent="0">
              <a:buNone/>
            </a:pPr>
            <a:endParaRPr lang="en-US" altLang="zh-CN" sz="2000">
              <a:solidFill>
                <a:schemeClr val="tx1"/>
              </a:solidFill>
            </a:endParaRPr>
          </a:p>
          <a:p>
            <a:pPr marL="457200" lvl="1" indent="0">
              <a:buNone/>
            </a:pPr>
            <a:r>
              <a:rPr lang="en-US" altLang="zh-CN" sz="2000">
                <a:solidFill>
                  <a:schemeClr val="tx1"/>
                </a:solidFill>
              </a:rPr>
              <a:t>2.  train the model</a:t>
            </a:r>
            <a:endParaRPr lang="en-US" altLang="zh-CN" sz="2000">
              <a:solidFill>
                <a:schemeClr val="tx1"/>
              </a:solidFill>
            </a:endParaRPr>
          </a:p>
          <a:p>
            <a:pPr marL="457200" lvl="1" indent="0">
              <a:buNone/>
            </a:pPr>
            <a:endParaRPr lang="en-US" altLang="zh-CN" sz="2000">
              <a:solidFill>
                <a:schemeClr val="tx1"/>
              </a:solidFill>
            </a:endParaRPr>
          </a:p>
          <a:p>
            <a:pPr marL="457200" lvl="1" indent="0">
              <a:buNone/>
            </a:pPr>
            <a:r>
              <a:rPr lang="en-US" altLang="zh-CN" sz="2000">
                <a:solidFill>
                  <a:schemeClr val="tx1"/>
                </a:solidFill>
              </a:rPr>
              <a:t>3. evaluate the results </a:t>
            </a:r>
            <a:endParaRPr lang="en-US" altLang="zh-CN" sz="2000">
              <a:solidFill>
                <a:schemeClr val="tx1"/>
              </a:solidFill>
            </a:endParaRPr>
          </a:p>
          <a:p>
            <a:pPr marL="457200" lvl="1" indent="0">
              <a:buNone/>
            </a:pPr>
            <a:endParaRPr lang="en-US" altLang="zh-CN" sz="2000">
              <a:solidFill>
                <a:schemeClr val="tx1"/>
              </a:solidFill>
            </a:endParaRPr>
          </a:p>
          <a:p>
            <a:pPr marL="457200" lvl="1" indent="0">
              <a:buNone/>
            </a:pPr>
            <a:endParaRPr lang="en-US" altLang="zh-CN" sz="2000">
              <a:solidFill>
                <a:schemeClr val="tx1"/>
              </a:solidFill>
            </a:endParaRPr>
          </a:p>
        </p:txBody>
      </p:sp>
      <p:sp>
        <p:nvSpPr>
          <p:cNvPr id="2" name="日期占位符 1"/>
          <p:cNvSpPr>
            <a:spLocks noGrp="1"/>
          </p:cNvSpPr>
          <p:nvPr>
            <p:ph type="dt" sz="half" idx="4294967295"/>
          </p:nvPr>
        </p:nvSpPr>
        <p:spPr>
          <a:xfrm>
            <a:off x="0" y="6356350"/>
            <a:ext cx="2743200" cy="365125"/>
          </a:xfrm>
        </p:spPr>
        <p:txBody>
          <a:bodyPr/>
          <a:lstStyle/>
          <a:p>
            <a:fld id="{82F288E0-7875-42C4-84C8-98DBBD3BF4D2}" type="datetimeFigureOut">
              <a:rPr lang="zh-CN" altLang="en-US" smtClean="0"/>
            </a:fld>
            <a:endParaRPr lang="zh-CN" altLang="en-US"/>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fld>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02585" y="70215"/>
            <a:ext cx="10975015" cy="521970"/>
          </a:xfrm>
        </p:spPr>
        <p:txBody>
          <a:bodyPr/>
          <a:lstStyle/>
          <a:p>
            <a:r>
              <a:rPr lang="de-DE" dirty="0">
                <a:sym typeface="+mn-ea"/>
              </a:rPr>
              <a:t>Geplante Experimente und Auswertung</a:t>
            </a:r>
            <a:endParaRPr lang="en-US" altLang="zh-CN"/>
          </a:p>
        </p:txBody>
      </p:sp>
      <p:sp>
        <p:nvSpPr>
          <p:cNvPr id="6" name="内容占位符 5"/>
          <p:cNvSpPr>
            <a:spLocks noGrp="1"/>
          </p:cNvSpPr>
          <p:nvPr>
            <p:ph idx="10"/>
          </p:nvPr>
        </p:nvSpPr>
        <p:spPr/>
        <p:txBody>
          <a:bodyPr/>
          <a:lstStyle/>
          <a:p>
            <a:r>
              <a:rPr lang="en-US" altLang="zh-CN"/>
              <a:t>The following aspects will be evaluated:</a:t>
            </a:r>
            <a:endParaRPr lang="en-US" altLang="zh-CN"/>
          </a:p>
          <a:p>
            <a:endParaRPr lang="en-US" altLang="zh-CN"/>
          </a:p>
          <a:p>
            <a:r>
              <a:rPr lang="en-US" altLang="zh-CN"/>
              <a:t>Classification accuracy (precision, recall, F1-score)</a:t>
            </a:r>
            <a:endParaRPr lang="en-US" altLang="zh-CN"/>
          </a:p>
          <a:p>
            <a:endParaRPr lang="en-US" altLang="zh-CN"/>
          </a:p>
          <a:p>
            <a:r>
              <a:rPr lang="en-US" altLang="zh-CN"/>
              <a:t>Loss functions during training</a:t>
            </a:r>
            <a:endParaRPr lang="en-US" altLang="zh-CN"/>
          </a:p>
          <a:p>
            <a:endParaRPr lang="en-US" altLang="zh-CN"/>
          </a:p>
          <a:p>
            <a:r>
              <a:rPr lang="en-US" altLang="zh-CN"/>
              <a:t>Detection speed and performance in real-time</a:t>
            </a:r>
            <a:endParaRPr lang="en-US" altLang="zh-CN"/>
          </a:p>
          <a:p>
            <a:endParaRPr lang="en-US" altLang="zh-CN"/>
          </a:p>
          <a:p>
            <a:r>
              <a:rPr lang="en-US" altLang="zh-CN"/>
              <a:t>Confusion between bottle types (confusion matrix)</a:t>
            </a:r>
            <a:endParaRPr lang="en-US" altLang="zh-CN"/>
          </a:p>
          <a:p>
            <a:endParaRPr lang="en-US" altLang="zh-CN"/>
          </a:p>
          <a:p>
            <a:r>
              <a:rPr lang="en-US" altLang="zh-CN"/>
              <a:t>Robustness under different lighting conditions or backgrounds</a:t>
            </a:r>
            <a:endParaRPr lang="en-US" altLang="zh-CN"/>
          </a:p>
        </p:txBody>
      </p:sp>
      <p:sp>
        <p:nvSpPr>
          <p:cNvPr id="2" name="日期占位符 1"/>
          <p:cNvSpPr>
            <a:spLocks noGrp="1"/>
          </p:cNvSpPr>
          <p:nvPr>
            <p:ph type="dt" sz="half" idx="4294967295"/>
          </p:nvPr>
        </p:nvSpPr>
        <p:spPr>
          <a:xfrm>
            <a:off x="0" y="6356350"/>
            <a:ext cx="2743200" cy="365125"/>
          </a:xfrm>
        </p:spPr>
        <p:txBody>
          <a:bodyPr/>
          <a:lstStyle/>
          <a:p>
            <a:fld id="{82F288E0-7875-42C4-84C8-98DBBD3BF4D2}" type="datetimeFigureOut">
              <a:rPr lang="zh-CN" altLang="en-US" smtClean="0"/>
            </a:fld>
            <a:endParaRPr lang="zh-CN" altLang="en-US"/>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Current results</a:t>
            </a:r>
            <a:endParaRPr lang="zh-CN" altLang="en-US" dirty="0"/>
          </a:p>
        </p:txBody>
      </p:sp>
      <p:sp>
        <p:nvSpPr>
          <p:cNvPr id="3" name="内容占位符 2"/>
          <p:cNvSpPr>
            <a:spLocks noGrp="1"/>
          </p:cNvSpPr>
          <p:nvPr>
            <p:ph idx="10"/>
          </p:nvPr>
        </p:nvSpPr>
        <p:spPr/>
        <p:txBody>
          <a:bodyPr/>
          <a:lstStyle/>
          <a:p>
            <a:pPr marL="0" indent="0">
              <a:buNone/>
            </a:pPr>
            <a:r>
              <a:rPr lang="en-US" altLang="zh-CN" dirty="0"/>
              <a:t>First, we have completed the pre-training of the YOLO model using the training set provided on the website.</a:t>
            </a:r>
            <a:endParaRPr lang="en-US" altLang="zh-CN" dirty="0"/>
          </a:p>
          <a:p>
            <a:endParaRPr lang="zh-CN" altLang="en-US" dirty="0"/>
          </a:p>
        </p:txBody>
      </p:sp>
      <p:pic>
        <p:nvPicPr>
          <p:cNvPr id="9" name="图片 8"/>
          <p:cNvPicPr>
            <a:picLocks noChangeAspect="1"/>
          </p:cNvPicPr>
          <p:nvPr/>
        </p:nvPicPr>
        <p:blipFill>
          <a:blip r:embed="rId1"/>
          <a:stretch>
            <a:fillRect/>
          </a:stretch>
        </p:blipFill>
        <p:spPr>
          <a:xfrm>
            <a:off x="-1" y="1852188"/>
            <a:ext cx="4856791" cy="3841557"/>
          </a:xfrm>
          <a:prstGeom prst="rect">
            <a:avLst/>
          </a:prstGeom>
        </p:spPr>
      </p:pic>
      <p:pic>
        <p:nvPicPr>
          <p:cNvPr id="10" name="图片 9"/>
          <p:cNvPicPr>
            <a:picLocks noChangeAspect="1"/>
          </p:cNvPicPr>
          <p:nvPr/>
        </p:nvPicPr>
        <p:blipFill>
          <a:blip r:embed="rId2"/>
          <a:stretch>
            <a:fillRect/>
          </a:stretch>
        </p:blipFill>
        <p:spPr>
          <a:xfrm>
            <a:off x="4230370" y="1867248"/>
            <a:ext cx="4249866" cy="3658857"/>
          </a:xfrm>
          <a:prstGeom prst="rect">
            <a:avLst/>
          </a:prstGeom>
        </p:spPr>
      </p:pic>
      <p:pic>
        <p:nvPicPr>
          <p:cNvPr id="11" name="图片 10"/>
          <p:cNvPicPr>
            <a:picLocks noChangeAspect="1"/>
          </p:cNvPicPr>
          <p:nvPr/>
        </p:nvPicPr>
        <p:blipFill>
          <a:blip r:embed="rId3"/>
          <a:stretch>
            <a:fillRect/>
          </a:stretch>
        </p:blipFill>
        <p:spPr>
          <a:xfrm>
            <a:off x="8129905" y="2078850"/>
            <a:ext cx="3795882" cy="37495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602585" y="70215"/>
            <a:ext cx="10975015" cy="521970"/>
          </a:xfrm>
        </p:spPr>
        <p:txBody>
          <a:bodyPr/>
          <a:lstStyle/>
          <a:p>
            <a:r>
              <a:rPr lang="en-US" altLang="zh-CN">
                <a:sym typeface="+mn-ea"/>
              </a:rPr>
              <a:t>Current results</a:t>
            </a:r>
            <a:endParaRPr lang="zh-CN" altLang="en-US"/>
          </a:p>
        </p:txBody>
      </p:sp>
      <p:pic>
        <p:nvPicPr>
          <p:cNvPr id="7" name="内容占位符 6"/>
          <p:cNvPicPr>
            <a:picLocks noGrp="1" noChangeAspect="1"/>
          </p:cNvPicPr>
          <p:nvPr>
            <p:ph idx="10"/>
          </p:nvPr>
        </p:nvPicPr>
        <p:blipFill>
          <a:blip r:embed="rId1"/>
          <a:stretch>
            <a:fillRect/>
          </a:stretch>
        </p:blipFill>
        <p:spPr>
          <a:xfrm>
            <a:off x="560070" y="728980"/>
            <a:ext cx="10490200" cy="5517515"/>
          </a:xfrm>
          <a:prstGeom prst="rect">
            <a:avLst/>
          </a:prstGeom>
        </p:spPr>
      </p:pic>
      <p:sp>
        <p:nvSpPr>
          <p:cNvPr id="2" name="日期占位符 1"/>
          <p:cNvSpPr>
            <a:spLocks noGrp="1"/>
          </p:cNvSpPr>
          <p:nvPr>
            <p:ph type="dt" sz="half" idx="4294967295"/>
          </p:nvPr>
        </p:nvSpPr>
        <p:spPr>
          <a:xfrm>
            <a:off x="0" y="6356350"/>
            <a:ext cx="2743200" cy="365125"/>
          </a:xfrm>
        </p:spPr>
        <p:txBody>
          <a:bodyPr/>
          <a:lstStyle/>
          <a:p>
            <a:fld id="{82F288E0-7875-42C4-84C8-98DBBD3BF4D2}" type="datetimeFigureOut">
              <a:rPr lang="zh-CN" altLang="en-US" smtClean="0"/>
            </a:fld>
            <a:endParaRPr lang="zh-CN" altLang="en-US"/>
          </a:p>
        </p:txBody>
      </p:sp>
      <p:sp>
        <p:nvSpPr>
          <p:cNvPr id="4" name="灯片编号占位符 3"/>
          <p:cNvSpPr>
            <a:spLocks noGrp="1"/>
          </p:cNvSpPr>
          <p:nvPr>
            <p:ph type="sldNum" sz="quarter" idx="4294967295"/>
          </p:nvPr>
        </p:nvSpPr>
        <p:spPr>
          <a:xfrm>
            <a:off x="9448800" y="6356350"/>
            <a:ext cx="2743200" cy="365125"/>
          </a:xfrm>
        </p:spPr>
        <p:txBody>
          <a:bodyPr/>
          <a:lstStyle/>
          <a:p>
            <a:fld id="{7D9BB5D0-35E4-459D-AEF3-FE4D7C45CC19}" type="slidenum">
              <a:rPr lang="zh-CN" altLang="en-US" smtClean="0"/>
            </a:fld>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Current results</a:t>
            </a:r>
            <a:endParaRPr lang="zh-CN" altLang="en-US" dirty="0"/>
          </a:p>
        </p:txBody>
      </p:sp>
      <p:pic>
        <p:nvPicPr>
          <p:cNvPr id="5" name="内容占位符 4"/>
          <p:cNvPicPr>
            <a:picLocks noGrp="1" noChangeAspect="1"/>
          </p:cNvPicPr>
          <p:nvPr>
            <p:ph idx="10"/>
          </p:nvPr>
        </p:nvPicPr>
        <p:blipFill>
          <a:blip r:embed="rId1">
            <a:extLst>
              <a:ext uri="{28A0092B-C50C-407E-A947-70E740481C1C}">
                <a14:useLocalDpi xmlns:a14="http://schemas.microsoft.com/office/drawing/2010/main" val="0"/>
              </a:ext>
            </a:extLst>
          </a:blip>
          <a:srcRect b="11801"/>
          <a:stretch>
            <a:fillRect/>
          </a:stretch>
        </p:blipFill>
        <p:spPr>
          <a:xfrm>
            <a:off x="602585" y="777875"/>
            <a:ext cx="6033476" cy="5429264"/>
          </a:xfr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593" y="1354575"/>
            <a:ext cx="5410911" cy="41488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EE4P_STYLE_ID" val="cc5e40d7-b542-49fc-9dfb-d66a29c96b40"/>
</p:tagLst>
</file>

<file path=ppt/theme/theme1.xml><?xml version="1.0" encoding="utf-8"?>
<a:theme xmlns:a="http://schemas.openxmlformats.org/drawingml/2006/main" name="Standarddesign">
  <a:themeElements>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tandarddesign">
      <a:majorFont>
        <a:latin typeface="Frutiger 55 Roman"/>
        <a:ea typeface=""/>
        <a:cs typeface=""/>
      </a:majorFont>
      <a:minorFont>
        <a:latin typeface="Frutiger 45 Light"/>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tandard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tandard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tandard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tandard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tandard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tandard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tandard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tandard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tandard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tandard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tandard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Larissa-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Standard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0</TotalTime>
  <Words>2584</Words>
  <Application>WPS 演示</Application>
  <PresentationFormat>宽屏</PresentationFormat>
  <Paragraphs>113</Paragraphs>
  <Slides>12</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12</vt:i4>
      </vt:variant>
    </vt:vector>
  </HeadingPairs>
  <TitlesOfParts>
    <vt:vector size="29" baseType="lpstr">
      <vt:lpstr>Arial</vt:lpstr>
      <vt:lpstr>宋体</vt:lpstr>
      <vt:lpstr>Wingdings</vt:lpstr>
      <vt:lpstr>Frutiger 45 Light</vt:lpstr>
      <vt:lpstr>Frutiger LT Com 45 Light</vt:lpstr>
      <vt:lpstr>Yu Gothic UI Light</vt:lpstr>
      <vt:lpstr>Frutiger LT Com 55 Roman</vt:lpstr>
      <vt:lpstr>Frutiger 55 Roman</vt:lpstr>
      <vt:lpstr>Symbol</vt:lpstr>
      <vt:lpstr>Wingdings 2</vt:lpstr>
      <vt:lpstr>DejaVu Math TeX Gyre</vt:lpstr>
      <vt:lpstr>Segoe UI Emoji</vt:lpstr>
      <vt:lpstr>等线</vt:lpstr>
      <vt:lpstr>Times New Roman</vt:lpstr>
      <vt:lpstr>微软雅黑</vt:lpstr>
      <vt:lpstr>Arial Unicode MS</vt:lpstr>
      <vt:lpstr>Standarddesign</vt:lpstr>
      <vt:lpstr>Laborprojekt Servicerobotik / Bildverarbeitung für Robotik 2025 Zwischenpräsentation Projekt 01: Bottle Detection</vt:lpstr>
      <vt:lpstr>Motivation</vt:lpstr>
      <vt:lpstr>Stand der Implementierung</vt:lpstr>
      <vt:lpstr>Stand der Implementierung</vt:lpstr>
      <vt:lpstr>Main Approach</vt:lpstr>
      <vt:lpstr>Implementation</vt:lpstr>
      <vt:lpstr>Implementation</vt:lpstr>
      <vt:lpstr>Geplante Experimente und Auswertung</vt:lpstr>
      <vt:lpstr>Geplante Experimente und Auswertung</vt:lpstr>
      <vt:lpstr>Current results</vt:lpstr>
      <vt:lpstr>Current results</vt:lpstr>
      <vt:lpstr>Current results</vt:lpstr>
    </vt:vector>
  </TitlesOfParts>
  <Company>Blues Brothers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richard.bormann@ipa.fraunhofer.de</dc:creator>
  <cp:lastModifiedBy>Flyyyyyy</cp:lastModifiedBy>
  <cp:revision>816</cp:revision>
  <dcterms:created xsi:type="dcterms:W3CDTF">2007-10-14T19:02:00Z</dcterms:created>
  <dcterms:modified xsi:type="dcterms:W3CDTF">2025-05-18T08:03:43Z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D02F3E9557B742B8AEB45675BD60130E_12</vt:lpwstr>
  </property>
  <property fmtid="{D5CDD505-2E9C-101B-9397-08002B2CF9AE}" pid="3" name="KSOProductBuildVer">
    <vt:lpwstr>2052-12.1.0.21171</vt:lpwstr>
  </property>
</Properties>
</file>